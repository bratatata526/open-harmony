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0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3" r:id="rId12"/>
    <p:sldId id="264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B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6" d="100"/>
          <a:sy n="66" d="100"/>
        </p:scale>
        <p:origin x="474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68335" y="0"/>
            <a:ext cx="15240" cy="6858000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88720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27C4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项目汇报</a:t>
            </a:r>
            <a:endParaRPr sz="1300" b="1" i="0" spc="120">
              <a:solidFill>
                <a:srgbClr val="27C4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777240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40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OpenHarmony</a:t>
            </a:r>
            <a:r>
              <a:rPr lang="en-US" altLang="zh-CN" sz="4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系统日志</a:t>
            </a:r>
            <a:endParaRPr lang="zh-CN" altLang="en-US" sz="40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异常识别与分析工具</a:t>
            </a:r>
            <a:endParaRPr lang="zh-CN" altLang="en-US" sz="40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3456432"/>
            <a:ext cx="1371600" cy="3810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5086" y="3877056"/>
            <a:ext cx="324205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zh-CN" sz="1400" b="0" i="0" dirty="0">
                <a:solidFill>
                  <a:srgbClr val="C6D4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400" dirty="0">
                <a:solidFill>
                  <a:srgbClr val="C6D4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组长 </a:t>
            </a:r>
            <a:r>
              <a:rPr lang="zh-CN" altLang="en-US" sz="1400" b="0" i="0" dirty="0">
                <a:solidFill>
                  <a:srgbClr val="C6D4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张东健 </a:t>
            </a:r>
            <a:endParaRPr lang="en-US" altLang="zh-CN" sz="1400" b="0" i="0" dirty="0">
              <a:solidFill>
                <a:srgbClr val="C6D4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zh-CN" sz="1400" dirty="0">
                <a:solidFill>
                  <a:srgbClr val="C6D4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	</a:t>
            </a:r>
            <a:r>
              <a:rPr lang="zh-CN" altLang="en-US" sz="1400" dirty="0">
                <a:solidFill>
                  <a:srgbClr val="C6D4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 </a:t>
            </a:r>
            <a:r>
              <a:rPr lang="zh-CN" altLang="en-US" sz="1400" b="0" i="0" dirty="0">
                <a:solidFill>
                  <a:srgbClr val="C6D4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张庭硕 陈怀</a:t>
            </a:r>
            <a:r>
              <a:rPr lang="zh-CN" altLang="en-US" sz="1400" b="0" i="0" dirty="0">
                <a:solidFill>
                  <a:srgbClr val="C6D4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谷 寒山</a:t>
            </a:r>
            <a:endParaRPr sz="1400" b="0" i="0" dirty="0">
              <a:solidFill>
                <a:srgbClr val="C6D4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88375" y="2103120"/>
            <a:ext cx="3017520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>
                <a:solidFill>
                  <a:srgbClr val="27C4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sz="2800" b="1" i="0" dirty="0">
              <a:solidFill>
                <a:srgbClr val="27C4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 i="0" dirty="0">
                <a:solidFill>
                  <a:srgbClr val="9FB3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基本日志解析率</a:t>
            </a:r>
            <a:endParaRPr lang="zh-CN" altLang="en-US" sz="1100" b="0" i="0" dirty="0">
              <a:solidFill>
                <a:srgbClr val="9FB3C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5760720"/>
            <a:ext cx="7680960" cy="11430"/>
          </a:xfrm>
          <a:prstGeom prst="rect">
            <a:avLst/>
          </a:prstGeom>
          <a:solidFill>
            <a:srgbClr val="2C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92531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B6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硬件：Hi3861 </a:t>
            </a:r>
            <a:r>
              <a:rPr sz="1150" b="0" i="0" dirty="0" err="1">
                <a:solidFill>
                  <a:srgbClr val="B6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开发板</a:t>
            </a:r>
            <a:r>
              <a:rPr sz="1150" b="0" i="0" dirty="0">
                <a:solidFill>
                  <a:srgbClr val="B6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150" b="0" i="0" dirty="0" err="1">
                <a:solidFill>
                  <a:srgbClr val="B6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板载温湿度、光照传感器</a:t>
            </a:r>
            <a:r>
              <a:rPr sz="1150" b="0" i="0" dirty="0">
                <a:solidFill>
                  <a:srgbClr val="B6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</a:t>
            </a:r>
            <a:r>
              <a:rPr sz="1150" b="0" i="0" dirty="0" err="1">
                <a:solidFill>
                  <a:srgbClr val="B6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数据经串口进电脑</a:t>
            </a:r>
            <a:endParaRPr sz="1150" b="0" i="0" dirty="0">
              <a:solidFill>
                <a:srgbClr val="B6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8DA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汇报日期：2026-10-1</a:t>
            </a:r>
            <a:r>
              <a:rPr lang="en-US" sz="1150" b="0" i="0" dirty="0">
                <a:solidFill>
                  <a:srgbClr val="8DA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150" b="0" i="0" dirty="0">
                <a:solidFill>
                  <a:srgbClr val="8DA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项目组：</a:t>
            </a:r>
            <a:r>
              <a:rPr lang="en-US" sz="1150" b="0" i="0" dirty="0">
                <a:solidFill>
                  <a:srgbClr val="8DA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150" b="0" i="0" dirty="0">
                <a:solidFill>
                  <a:srgbClr val="8DA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人 ｜ </a:t>
            </a:r>
            <a:r>
              <a:rPr sz="1150" b="0" i="0" dirty="0" err="1">
                <a:solidFill>
                  <a:srgbClr val="8DA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当前状态：主要功能已跑通</a:t>
            </a:r>
            <a:endParaRPr sz="1150" b="0" i="0" dirty="0">
              <a:solidFill>
                <a:srgbClr val="8DA3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8488375" y="3383280"/>
            <a:ext cx="3017520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27C4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r>
              <a:rPr sz="12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/128 B</a:t>
            </a:r>
            <a:endParaRPr sz="1200" b="1" i="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9FB3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最长日志行</a:t>
            </a:r>
            <a:endParaRPr sz="1100" b="0" i="0" dirty="0">
              <a:solidFill>
                <a:srgbClr val="9FB3C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60375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70103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选题定位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sz="130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415875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OpenHarmony 系统日志异常智能聚合分析工具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525603"/>
            <a:ext cx="11057839" cy="3474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525603"/>
            <a:ext cx="4592769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题目要求</a:t>
            </a:r>
            <a:endParaRPr sz="11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7441" y="1525603"/>
            <a:ext cx="20078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</a:t>
            </a:r>
            <a:endParaRPr sz="11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51565" y="1525603"/>
            <a:ext cx="100256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1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0431" y="1525603"/>
            <a:ext cx="286947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进展</a:t>
            </a:r>
            <a:endParaRPr sz="11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1873075"/>
            <a:ext cx="1105783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320750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73075"/>
            <a:ext cx="459276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Hi3861 多任务模拟程序 / 采集真实环境数据</a:t>
            </a:r>
            <a:endParaRPr sz="11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97441" y="1873075"/>
            <a:ext cx="20078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日志规范性</a:t>
            </a:r>
            <a:endParaRPr sz="11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00431" y="1873075"/>
            <a:ext cx="286947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endParaRPr sz="1150" b="1" i="0" dirty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2330275"/>
            <a:ext cx="11057839" cy="4572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777950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330275"/>
            <a:ext cx="459276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串口 / ADB 采集与解析</a:t>
            </a:r>
            <a:endParaRPr sz="11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97441" y="2330275"/>
            <a:ext cx="20078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工程稳定性</a:t>
            </a:r>
            <a:endParaRPr sz="11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00431" y="2330275"/>
            <a:ext cx="286947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endParaRPr sz="1150" b="1" i="0" dirty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6928" y="2787475"/>
            <a:ext cx="1105783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235150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787475"/>
            <a:ext cx="459276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 异常模式识别</a:t>
            </a:r>
            <a:endParaRPr sz="11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97441" y="2787475"/>
            <a:ext cx="20078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1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识别正确性</a:t>
            </a:r>
            <a:endParaRPr sz="11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00431" y="2787475"/>
            <a:ext cx="286947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i="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正在进行</a:t>
            </a:r>
            <a:endParaRPr lang="zh-CN" altLang="en-US" sz="1150" b="1" i="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3244675"/>
            <a:ext cx="11057839" cy="4572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692350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244675"/>
            <a:ext cx="459276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(4) 智能告警与报告</a:t>
            </a:r>
            <a:endParaRPr sz="11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97441" y="3244675"/>
            <a:ext cx="20078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可读性与可信度</a:t>
            </a:r>
            <a:endParaRPr sz="11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00431" y="3244675"/>
            <a:ext cx="286947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D98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待完成</a:t>
            </a:r>
            <a:endParaRPr sz="1150" b="1" i="0" dirty="0">
              <a:solidFill>
                <a:srgbClr val="D98B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66928" y="3720163"/>
            <a:ext cx="5391759" cy="1299893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3720163"/>
            <a:ext cx="40640" cy="1115568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3839035"/>
            <a:ext cx="506257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25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项目实现：</a:t>
            </a:r>
            <a:endParaRPr lang="en-US" altLang="zh-CN" sz="1250" b="1" i="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先用普通程序把 </a:t>
            </a:r>
            <a:r>
              <a:rPr lang="en-US" altLang="zh-CN" sz="12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99% </a:t>
            </a:r>
            <a:r>
              <a:rPr lang="zh-CN" altLang="en-US" sz="12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的工作做完，只把真正需要理解的</a:t>
            </a:r>
            <a:endParaRPr lang="zh-CN" altLang="en-US" sz="12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那一小部分交给大模型</a:t>
            </a:r>
            <a:r>
              <a:rPr lang="en-US" altLang="zh-CN" sz="120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0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又快、又准。</a:t>
            </a:r>
            <a:endParaRPr lang="zh-CN" altLang="en-US" sz="1200" b="1" i="0" dirty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33007" y="3720163"/>
            <a:ext cx="5391759" cy="1299892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3007" y="3720163"/>
            <a:ext cx="40640" cy="111556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3839035"/>
            <a:ext cx="506257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zh-CN" altLang="en-US" sz="1250" b="1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主旨</a:t>
            </a:r>
            <a:r>
              <a:rPr lang="zh-CN" altLang="en-US" sz="12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zh-CN" sz="125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200" b="0" i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</a:t>
            </a:r>
            <a:r>
              <a:rPr lang="en-US" altLang="zh-CN" sz="1200" b="0" i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200" b="0" i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语义理解为核心，从系统日志流中识别异常模式、归类告警，</a:t>
            </a:r>
            <a:endParaRPr lang="zh-CN" altLang="en-US" sz="1200" b="0" i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并生成证据可回查的根因分析报告</a:t>
            </a:r>
            <a:endParaRPr lang="zh-CN" altLang="en-US" sz="1200" b="0" i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项目功能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229360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339088"/>
            <a:ext cx="2586151" cy="329184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339088"/>
            <a:ext cx="2586151" cy="694944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30528"/>
            <a:ext cx="231183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生成规范的日志</a:t>
            </a:r>
            <a:endParaRPr sz="12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143760"/>
            <a:ext cx="2311831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原先设备只打印一行“温度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28.13”这样的自由文字，程序没法处理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改成固定格式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05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什么时间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哪个模块、什么级别、哪台设备、数值多少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0823" y="1339088"/>
            <a:ext cx="2586151" cy="329184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823" y="1339088"/>
            <a:ext cx="2586151" cy="69494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7127" y="1430528"/>
            <a:ext cx="231183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</a:t>
            </a:r>
            <a:r>
              <a:rPr lang="zh-CN" altLang="en-US"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</a:t>
            </a: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endParaRPr sz="12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37127" y="2143760"/>
            <a:ext cx="2311831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开发板通过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USB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串口连电脑，程序实时读</a:t>
            </a:r>
            <a:r>
              <a:rPr lang="zh-CN" altLang="en-US"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4719" y="1339088"/>
            <a:ext cx="2586151" cy="329184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4719" y="1339088"/>
            <a:ext cx="2586151" cy="694944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1023" y="1430528"/>
            <a:ext cx="231183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</a:t>
            </a: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自动找出问题并归类</a:t>
            </a:r>
            <a:endParaRPr sz="12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61023" y="2143760"/>
            <a:ext cx="2311831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05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周期性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打包，统计</a:t>
            </a:r>
            <a:r>
              <a:rPr lang="zh-CN" altLang="en-US"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该批次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的异常情况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已知的故障直接对号入座；同一个</a:t>
            </a:r>
            <a:r>
              <a:rPr lang="zh-CN" altLang="en-US"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自动并成一条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38615" y="1339088"/>
            <a:ext cx="2586151" cy="329184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8615" y="1339088"/>
            <a:ext cx="2586151" cy="69494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4919" y="1430528"/>
            <a:ext cx="231183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</a:t>
            </a: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zh-CN" altLang="en-US"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分析报告</a:t>
            </a:r>
            <a:endParaRPr sz="12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84919" y="2143760"/>
            <a:ext cx="2311831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写清现象、贴出原始日志证据、推测原因、给出处理建议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生成分析报告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endParaRPr sz="1050" b="1" i="0" dirty="0">
              <a:solidFill>
                <a:srgbClr val="142B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6928" y="4850384"/>
            <a:ext cx="11057839" cy="420624"/>
          </a:xfrm>
          <a:prstGeom prst="rect">
            <a:avLst/>
          </a:prstGeom>
          <a:solidFill>
            <a:srgbClr val="EC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850384"/>
            <a:ext cx="40640" cy="420624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50384"/>
            <a:ext cx="1078351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四件事里，第</a:t>
            </a:r>
            <a:r>
              <a:rPr sz="1100" b="0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①②④ </a:t>
            </a:r>
            <a:r>
              <a:rPr sz="1100" b="0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件已经跑通；第</a:t>
            </a:r>
            <a:r>
              <a:rPr sz="1100" b="0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③ </a:t>
            </a:r>
            <a:r>
              <a:rPr sz="1100" b="0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件里的“自动归类”已做好</a:t>
            </a:r>
            <a:r>
              <a:rPr sz="1100" b="0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00" b="0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5157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工作流程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7" y="1059865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7" y="1169593"/>
            <a:ext cx="1705813" cy="14173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7" y="1169593"/>
            <a:ext cx="1705813" cy="3810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3" y="1288465"/>
            <a:ext cx="1449781" cy="1197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设备打日志</a:t>
            </a:r>
            <a:endParaRPr sz="12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 err="1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板子上跑</a:t>
            </a:r>
            <a:r>
              <a:rPr sz="950" b="0" i="0" dirty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950" b="0" i="0" dirty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950" b="0" i="0" dirty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0" b="0" i="0" dirty="0" err="1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个任务，每</a:t>
            </a:r>
            <a:r>
              <a:rPr sz="950" b="0" i="0" dirty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sz="950" b="0" i="0" dirty="0" err="1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秒上报一次，按固定格式打印</a:t>
            </a:r>
            <a:endParaRPr sz="950" b="0" i="0" dirty="0">
              <a:solidFill>
                <a:srgbClr val="B9C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295600" y="1754809"/>
            <a:ext cx="118872" cy="237744"/>
          </a:xfrm>
          <a:prstGeom prst="rightArrow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7332" y="1169593"/>
            <a:ext cx="1705813" cy="14173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7332" y="1169593"/>
            <a:ext cx="1705813" cy="3810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5348" y="1288465"/>
            <a:ext cx="1449781" cy="1197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串口收上来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程序实时读串口，断线自己重连，一行都不丢</a:t>
            </a:r>
            <a:endParaRPr sz="950" b="0" i="0">
              <a:solidFill>
                <a:srgbClr val="B9C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166005" y="1754809"/>
            <a:ext cx="118872" cy="237744"/>
          </a:xfrm>
          <a:prstGeom prst="rightArrow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7737" y="1169593"/>
            <a:ext cx="1705813" cy="1417320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7737" y="1169593"/>
            <a:ext cx="1705813" cy="3810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5753" y="1288465"/>
            <a:ext cx="1449781" cy="1197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拆开并检查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把每行拆成字段，检查序号连不连续、格式对不对</a:t>
            </a:r>
            <a:endParaRPr sz="950" b="0" i="0">
              <a:solidFill>
                <a:srgbClr val="B9C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6036410" y="1754809"/>
            <a:ext cx="118872" cy="237744"/>
          </a:xfrm>
          <a:prstGeom prst="rightArrow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8142" y="1169593"/>
            <a:ext cx="1705813" cy="1417320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8142" y="1169593"/>
            <a:ext cx="1705813" cy="3810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6158" y="1288465"/>
            <a:ext cx="1449781" cy="1197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按批打包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 60 秒归一批，统计这批里的异常情况</a:t>
            </a:r>
            <a:endParaRPr sz="950" b="0" i="0">
              <a:solidFill>
                <a:srgbClr val="B9C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7906815" y="1754809"/>
            <a:ext cx="118872" cy="237744"/>
          </a:xfrm>
          <a:prstGeom prst="rightArrow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8547" y="1169593"/>
            <a:ext cx="1705813" cy="14173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8547" y="1169593"/>
            <a:ext cx="1705813" cy="3810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6563" y="1288465"/>
            <a:ext cx="1449781" cy="1197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判断与归类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算分判断要不要管，把同一个毛病并成一条</a:t>
            </a:r>
            <a:endParaRPr sz="950" b="0" i="0">
              <a:solidFill>
                <a:srgbClr val="B9C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9777220" y="1754809"/>
            <a:ext cx="118872" cy="237744"/>
          </a:xfrm>
          <a:prstGeom prst="rightArrow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18952" y="1169593"/>
            <a:ext cx="1705813" cy="14173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18952" y="1169593"/>
            <a:ext cx="1705813" cy="3810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6968" y="1288465"/>
            <a:ext cx="1449781" cy="1197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出结论并通知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写报告 + 推送到邮件/办公群</a:t>
            </a:r>
            <a:endParaRPr sz="950" b="0" i="0">
              <a:solidFill>
                <a:srgbClr val="B9C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927" y="2650921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详情</a:t>
            </a:r>
            <a:endParaRPr sz="1250" b="1" i="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6927" y="2943529"/>
            <a:ext cx="11057839" cy="3474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7" y="2943529"/>
            <a:ext cx="129602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00694" y="2943529"/>
            <a:ext cx="3699901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6899" y="2943529"/>
            <a:ext cx="562300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66927" y="3291001"/>
            <a:ext cx="110578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7" y="3665524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7" y="3291001"/>
            <a:ext cx="129602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串口收上来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00694" y="3291001"/>
            <a:ext cx="369990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端口自动找、拔线自动重连、半行数据先攒着不乱拆</a:t>
            </a:r>
            <a:endParaRPr sz="10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46899" y="3291001"/>
            <a:ext cx="56230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拔掉 USB 几秒内界面就提示断开，插回去自动接上，不用重启程序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66927" y="3675049"/>
            <a:ext cx="11057839" cy="38404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7" y="4049572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7" y="3675049"/>
            <a:ext cx="129602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拆开并检查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100694" y="3675049"/>
            <a:ext cx="369990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每行拆成“时间/级别/模块/设备号/各项数值”；序号断档就是丢日志</a:t>
            </a:r>
            <a:endParaRPr sz="10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46899" y="3675049"/>
            <a:ext cx="56230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 1300+ 行日志全部解析成功，格式不统一的老代码一行都解析不了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66927" y="4059097"/>
            <a:ext cx="110578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7" y="4433620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7" y="4059097"/>
            <a:ext cx="129602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按批打包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00694" y="4059097"/>
            <a:ext cx="369990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每批统计：行数、各级别条数、两次日志间隔、序号缺口</a:t>
            </a:r>
            <a:endParaRPr sz="10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946899" y="4059097"/>
            <a:ext cx="56230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任务卡住的表现是“日志突然不打了”，只有看间隔才发现得了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66927" y="4443145"/>
            <a:ext cx="11057839" cy="38404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7" y="4817668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7" y="4443145"/>
            <a:ext cx="129602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判断与归类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00694" y="4443145"/>
            <a:ext cx="369990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算分决定要不要人管；把故障特征相同的并成一条</a:t>
            </a:r>
            <a:endParaRPr sz="10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946899" y="4443145"/>
            <a:ext cx="56230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同一毛病 6 台设备都出现，只提醒一条，而不是刷 6 条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66927" y="4827193"/>
            <a:ext cx="110578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7" y="4827193"/>
            <a:ext cx="129602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出结论并通知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00694" y="4827193"/>
            <a:ext cx="369990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报告写清现象、证据、原因、建议；再发邮件或群里</a:t>
            </a:r>
            <a:endParaRPr sz="1050" b="0" i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46899" y="4827193"/>
            <a:ext cx="56230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报告里的证据行是程序贴上去的，不是大模型写的（见下一页说明）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</a:t>
            </a:r>
            <a:r>
              <a:rPr 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工作流程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7" y="1077667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7" y="1187395"/>
            <a:ext cx="3503066" cy="197510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7" y="1187395"/>
            <a:ext cx="3503066" cy="566928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1260547"/>
            <a:ext cx="322874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次调用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E6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判断这批日志有没有问题</a:t>
            </a:r>
            <a:endParaRPr sz="1000" b="0" i="0">
              <a:solidFill>
                <a:srgbClr val="D5E6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1" y="1864051"/>
            <a:ext cx="3228746" cy="1225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00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日志批次中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的统计数字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挑出来的代表性日志行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真异常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大致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问题、严重程度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44313" y="1187395"/>
            <a:ext cx="3503066" cy="197510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4313" y="1187395"/>
            <a:ext cx="3503066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7" y="1260547"/>
            <a:ext cx="322874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</a:t>
            </a:r>
            <a:r>
              <a:rPr sz="11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次调用</a:t>
            </a:r>
            <a:endParaRPr sz="11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rgbClr val="D5E6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</a:t>
            </a:r>
            <a:r>
              <a:rPr sz="1000" b="0" i="0" dirty="0" err="1">
                <a:solidFill>
                  <a:srgbClr val="D5E6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同类问题</a:t>
            </a:r>
            <a:r>
              <a:rPr lang="en-US" sz="1000" b="0" i="0" dirty="0">
                <a:solidFill>
                  <a:srgbClr val="D5E6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00" b="0" i="0" dirty="0">
                <a:solidFill>
                  <a:srgbClr val="D5E6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命名</a:t>
            </a:r>
            <a:endParaRPr sz="1000" b="0" i="0" dirty="0">
              <a:solidFill>
                <a:srgbClr val="D5E6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90617" y="1864051"/>
            <a:ext cx="3228746" cy="1225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已经归好组的一堆问题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执行：对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这组问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题进行概括命名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21699" y="1187395"/>
            <a:ext cx="3503066" cy="197510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1699" y="1187395"/>
            <a:ext cx="3503066" cy="566928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8003" y="1260547"/>
            <a:ext cx="322874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</a:t>
            </a:r>
            <a:r>
              <a:rPr sz="11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次调用</a:t>
            </a:r>
            <a:endParaRPr sz="11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 dirty="0">
                <a:solidFill>
                  <a:srgbClr val="D5E6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原因分析</a:t>
            </a:r>
            <a:r>
              <a:rPr sz="1000" b="0" i="0" dirty="0" err="1">
                <a:solidFill>
                  <a:srgbClr val="D5E6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和处理建议</a:t>
            </a:r>
            <a:endParaRPr sz="1000" b="0" i="0" dirty="0">
              <a:solidFill>
                <a:srgbClr val="D5E6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68003" y="1864051"/>
            <a:ext cx="3228746" cy="1225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00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这类问题的完整日志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时间线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设备清单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写出原因推理和可执行的处置步骤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00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最终报告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927" y="3418531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dirty="0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虚假信息预防：</a:t>
            </a:r>
            <a:endParaRPr sz="1250" b="1" i="0" dirty="0">
              <a:solidFill>
                <a:srgbClr val="C4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6928" y="3793435"/>
            <a:ext cx="5391759" cy="1188720"/>
          </a:xfrm>
          <a:prstGeom prst="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793435"/>
            <a:ext cx="40640" cy="1188720"/>
          </a:xfrm>
          <a:prstGeom prst="rect">
            <a:avLst/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894019"/>
            <a:ext cx="5062575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 err="1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程序做负责把真实日志贴上去</a:t>
            </a:r>
            <a:endParaRPr sz="1150" b="1" i="0" dirty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按它给的编号返回原始日志里查询；</a:t>
            </a:r>
            <a:endParaRPr lang="en-US" altLang="zh-CN"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编号对不上就直接丢掉，不进报告。</a:t>
            </a:r>
            <a:endParaRPr lang="zh-CN" altLang="en-US"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</a:t>
            </a:r>
            <a:r>
              <a:rPr sz="1600" b="1" i="0" spc="60" dirty="0" err="1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基础工作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083056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192784"/>
            <a:ext cx="4846320" cy="1481328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192784"/>
            <a:ext cx="4846320" cy="402336"/>
          </a:xfrm>
          <a:prstGeom prst="rect">
            <a:avLst/>
          </a:prstGeom>
          <a:solidFill>
            <a:srgbClr val="C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92784"/>
            <a:ext cx="455371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显示格式</a:t>
            </a:r>
            <a:endParaRPr sz="12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6" y="1723136"/>
            <a:ext cx="4443984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4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temperature = 28.13    humidity = 45.90</a:t>
            </a:r>
            <a:endParaRPr sz="1100" b="0" i="0">
              <a:solidFill>
                <a:srgbClr val="1B242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程序只能认出 0 个字段。不知道是哪台设备、什么级别、也没法排序，后面所有统计都无从下手。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87568" y="1192784"/>
            <a:ext cx="5937199" cy="1481328"/>
          </a:xfrm>
          <a:prstGeom prst="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87568" y="1192784"/>
            <a:ext cx="5937199" cy="402336"/>
          </a:xfrm>
          <a:prstGeom prst="rect">
            <a:avLst/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192784"/>
            <a:ext cx="5644591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规定格式</a:t>
            </a:r>
            <a:endParaRPr sz="12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88736" y="1723136"/>
            <a:ext cx="5534863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B24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000642.480000 E A001 AgriSensor: 1 118 5 1001 6 1 9 5001 z=A</a:t>
            </a:r>
            <a:endParaRPr sz="1000" b="0" i="0">
              <a:solidFill>
                <a:srgbClr val="1B242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个字段全部能认出来：时间、级别、模块、设备号、故障码、错误码、耗时……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2893568"/>
            <a:ext cx="11057839" cy="950976"/>
          </a:xfrm>
          <a:prstGeom prst="rect">
            <a:avLst/>
          </a:prstGeom>
          <a:solidFill>
            <a:srgbClr val="11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893568"/>
            <a:ext cx="40640" cy="950976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975864"/>
            <a:ext cx="1074694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C4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一条真实故障日志，逐段拆开看</a:t>
            </a:r>
            <a:endParaRPr sz="950" b="1" i="0">
              <a:solidFill>
                <a:srgbClr val="27C4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8" y="3177032"/>
            <a:ext cx="1074694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"/>
              </a:spcAft>
            </a:pPr>
            <a:r>
              <a:rPr sz="950" b="0" i="0">
                <a:solidFill>
                  <a:srgbClr val="DCE6E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000642.480000  E  A001  AgriSensor:  1 118  5 1001  6 1  9 5001  z=A</a:t>
            </a:r>
            <a:endParaRPr sz="950" b="0" i="0">
              <a:solidFill>
                <a:srgbClr val="DCE6E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"/>
              </a:spcAft>
            </a:pPr>
            <a:r>
              <a:rPr sz="950" b="0" i="0">
                <a:solidFill>
                  <a:srgbClr val="DCE6E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└── 时间 ──┘  │  └4┘  └─ 模块 ──┘  └─ 编号 值 成对 ─┘  └设备号┘</a:t>
            </a:r>
            <a:endParaRPr sz="950" b="0" i="0">
              <a:solidFill>
                <a:srgbClr val="DCE6E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"/>
              </a:spcAft>
            </a:pPr>
            <a:r>
              <a:rPr sz="950" b="0" i="0">
                <a:solidFill>
                  <a:srgbClr val="DCE6E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开机后多少秒  级别  模块号                          放最后，好找</a:t>
            </a:r>
            <a:endParaRPr sz="950" b="0" i="0">
              <a:solidFill>
                <a:srgbClr val="DCE6E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4027424"/>
            <a:ext cx="11057839" cy="31089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027424"/>
            <a:ext cx="244751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zh-CN" altLang="en-US" sz="11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endParaRPr sz="11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52182" y="4027424"/>
            <a:ext cx="831772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endParaRPr sz="11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4338320"/>
            <a:ext cx="11057839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676267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338320"/>
            <a:ext cx="244751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值是纯数字，不是文字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52182" y="4338320"/>
            <a:ext cx="8317721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这块板子的日志系统不支持打印字符串</a:t>
            </a:r>
            <a:endParaRPr sz="105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6928" y="4685792"/>
            <a:ext cx="11057839" cy="347472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023739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685792"/>
            <a:ext cx="244751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温度存 281 而不是 28.1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52182" y="4685792"/>
            <a:ext cx="8317721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既绕开板子小数打印的问题，也让同类日志长得一样，好归并</a:t>
            </a:r>
            <a:endParaRPr sz="105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5033264"/>
            <a:ext cx="11057839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371211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33264"/>
            <a:ext cx="244751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每行不超过 128 字节；设备号放行尾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52182" y="5033264"/>
            <a:ext cx="8317721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超了板子会</a:t>
            </a:r>
            <a:r>
              <a:rPr lang="zh-CN" altLang="en-US" sz="1050" b="0" i="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</a:t>
            </a:r>
            <a:r>
              <a:rPr sz="1050" b="0" i="0" dirty="0" err="1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不打印</a:t>
            </a:r>
            <a:r>
              <a:rPr sz="1050" b="0" i="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1050" b="0" i="0" dirty="0" err="1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不报错、不截断，故障日志会凭空消失；设备号统一放行尾，刷屏时最右一列就能看出是哪台</a:t>
            </a:r>
            <a:endParaRPr sz="105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</a:t>
            </a:r>
            <a:r>
              <a:rPr sz="1600" b="1" i="0" spc="60" dirty="0" err="1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353312"/>
            <a:ext cx="11057839" cy="11887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353312"/>
            <a:ext cx="40640" cy="1188720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44752"/>
            <a:ext cx="100584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判断一</a:t>
            </a:r>
            <a:endParaRPr sz="11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D6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i="0">
              <a:solidFill>
                <a:srgbClr val="C8D6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92224" y="1453896"/>
            <a:ext cx="9667951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日志突然不</a:t>
            </a:r>
            <a:r>
              <a:rPr lang="zh-CN" altLang="en-US" sz="12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打印</a:t>
            </a:r>
            <a:r>
              <a:rPr sz="12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2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</a:t>
            </a:r>
            <a:r>
              <a:rPr sz="12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本身就是故障</a:t>
            </a:r>
            <a:endParaRPr sz="120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任务卡死的时候，日志里不会多出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ERROR，而是“少了一堆正常日志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”。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所以我们专门看两次日志之间的间隔：正常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秒一条，突然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秒没动静就报警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只搜关键字的做法，这类问题一条都发现不了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2670048"/>
            <a:ext cx="11057839" cy="11887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70048"/>
            <a:ext cx="40640" cy="11887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61488"/>
            <a:ext cx="100584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判断二</a:t>
            </a:r>
            <a:endParaRPr sz="1100" b="1" i="0">
              <a:solidFill>
                <a:srgbClr val="142B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D6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 i="0">
              <a:solidFill>
                <a:srgbClr val="C8D6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2224" y="2770632"/>
            <a:ext cx="9667951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有些“异常”其实是正常现象</a:t>
            </a:r>
            <a:r>
              <a:rPr sz="12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200" b="1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</a:t>
            </a:r>
            <a:r>
              <a:rPr sz="12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</a:t>
            </a:r>
            <a:endParaRPr sz="120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断线重连、灌溉开始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结束、设备启动，都会打印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WARN 或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INFO，但它们不是故障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如果不排除，告警会一直响，用不了几天就没人看了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11057839" cy="11887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86784"/>
            <a:ext cx="40640" cy="1188720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78224"/>
            <a:ext cx="100584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判断三</a:t>
            </a:r>
            <a:endParaRPr sz="11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D6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 i="0">
              <a:solidFill>
                <a:srgbClr val="C8D6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92224" y="4087368"/>
            <a:ext cx="9667951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</a:t>
            </a:r>
            <a:r>
              <a:rPr lang="en-US" sz="12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error</a:t>
            </a:r>
            <a:r>
              <a:rPr sz="12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只提醒一次，而且要说清原因</a:t>
            </a:r>
            <a:endParaRPr sz="120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设备同时报同一个毛病，说明是系统性问题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更关键的是能顺藤摸瓜：传感器读不到数，往上一查发现是内存不够导致的，报告会指出真正该修的地方是内存模块</a:t>
            </a:r>
            <a:r>
              <a:rPr sz="100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数据真实性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1057788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2064" y="1167516"/>
            <a:ext cx="11057839" cy="3474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167516"/>
            <a:ext cx="199756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7371" y="1167516"/>
            <a:ext cx="143338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是否真实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7062" y="1167516"/>
            <a:ext cx="718797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2064" y="1514988"/>
            <a:ext cx="110578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2054103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514988"/>
            <a:ext cx="199756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设备端程序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7371" y="1514988"/>
            <a:ext cx="1433387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真机运行</a:t>
            </a:r>
            <a:endParaRPr sz="105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27062" y="1514988"/>
            <a:ext cx="7187977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跑在 Hi3861 开发板上的 6 个任务程序，日志从板子的串口抓下来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2064" y="2063628"/>
            <a:ext cx="11057839" cy="54864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" y="2602743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063628"/>
            <a:ext cx="199756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温湿度、光照读数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7371" y="2063628"/>
            <a:ext cx="1433387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传感器实测</a:t>
            </a:r>
            <a:endParaRPr sz="105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27062" y="2063628"/>
            <a:ext cx="7187977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板子自带的温湿度传感器和光照传感器读出来的真实数值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2064" y="2612268"/>
            <a:ext cx="110578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" y="3151383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2612268"/>
            <a:ext cx="199756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采集、解析、报告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47371" y="2612268"/>
            <a:ext cx="1433387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真实链路</a:t>
            </a:r>
            <a:endParaRPr sz="105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27062" y="2612268"/>
            <a:ext cx="7187977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从串口读数到出报告的每一步都在真实数据上跑，日志解析成功率 100%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12064" y="3160908"/>
            <a:ext cx="11057839" cy="54864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064" y="3700023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3160908"/>
            <a:ext cx="199756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演示日志</a:t>
            </a:r>
            <a:endParaRPr sz="105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47371" y="3160908"/>
            <a:ext cx="1433387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8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程序生成</a:t>
            </a:r>
            <a:endParaRPr sz="1050" b="1" i="0">
              <a:solidFill>
                <a:srgbClr val="D98B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27062" y="3160908"/>
            <a:ext cx="7187977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为了演示效果，用程序按同一套环境变化规律生成的，含 148 次故障；界面上会明确标注来源，不和真机数据混在一起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项目进展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092200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201928"/>
            <a:ext cx="11057839" cy="3474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01928"/>
            <a:ext cx="2505321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项目内容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09993" y="1201928"/>
            <a:ext cx="132055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76849" y="1201928"/>
            <a:ext cx="679305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具体说明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1549400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106803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549400"/>
            <a:ext cx="2505321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板子上跑的程序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09993" y="1549400"/>
            <a:ext cx="1320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已完成</a:t>
            </a:r>
            <a:endParaRPr sz="105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76849" y="1549400"/>
            <a:ext cx="679305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个任务并发，每 5 秒上报一次；实测间隔 5.14 秒（设定 5 秒）。板上自带传感器读数直接使用，不做任何加工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2116328"/>
            <a:ext cx="11057839" cy="5669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673731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116328"/>
            <a:ext cx="2505321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串口采集与解析</a:t>
            </a:r>
            <a:endParaRPr sz="1050" b="1" i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09993" y="2116328"/>
            <a:ext cx="1320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已完成</a:t>
            </a:r>
            <a:endParaRPr sz="105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76849" y="2116328"/>
            <a:ext cx="679305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拔线自动重连、换 USB 口也能自己找到；实测 1300+ 行日志全部解析成功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6928" y="2683256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240659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683256"/>
            <a:ext cx="2505321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sz="105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zh-CN" altLang="en-US" sz="10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</a:t>
            </a:r>
            <a:r>
              <a:rPr sz="10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05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自动归类</a:t>
            </a:r>
            <a:endParaRPr sz="105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09993" y="2683256"/>
            <a:ext cx="1320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已完成</a:t>
            </a:r>
            <a:endParaRPr sz="105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76849" y="2683256"/>
            <a:ext cx="679305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 秒一批打包、综合打分判断、同一个毛病自动并成一条。另外还有一项“自动发现日志新格式”没做（不是必须的功能）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6928" y="3250184"/>
            <a:ext cx="11057839" cy="5669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807587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250184"/>
            <a:ext cx="2505321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en-US" sz="10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0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语义分析</a:t>
            </a:r>
            <a:endParaRPr sz="105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09993" y="3250184"/>
            <a:ext cx="1320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D98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◐ </a:t>
            </a:r>
            <a:r>
              <a:rPr lang="zh-CN" altLang="en-US" sz="1050" b="1" dirty="0">
                <a:solidFill>
                  <a:srgbClr val="D98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endParaRPr sz="1050" b="1" i="0" dirty="0">
              <a:solidFill>
                <a:srgbClr val="D98B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76849" y="3250184"/>
            <a:ext cx="679305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报告能出，内容可回查、没有编造。但“推送到邮件/办公群”完全没做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6928" y="3817112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374515"/>
            <a:ext cx="11057839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817112"/>
            <a:ext cx="2505321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altLang="en-US" sz="105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分析准确率</a:t>
            </a:r>
            <a:endParaRPr sz="105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09993" y="3817112"/>
            <a:ext cx="1320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</a:t>
            </a:r>
            <a:r>
              <a:rPr lang="zh-CN" altLang="en-US" sz="1050" b="1" i="0" dirty="0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</a:t>
            </a:r>
            <a:r>
              <a:rPr lang="zh-CN" altLang="en-US" sz="1050" b="1" dirty="0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sz="1050" b="1" i="0" dirty="0">
              <a:solidFill>
                <a:srgbClr val="C4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76849" y="3817112"/>
            <a:ext cx="679305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怎么测、测哪些指标都已经定好了，但还没跑出数字。如果问准确率，我们现在只能照实说“还没测”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66928" y="4585208"/>
            <a:ext cx="3576218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585208"/>
            <a:ext cx="38100" cy="786384"/>
          </a:xfrm>
          <a:prstGeom prst="rect">
            <a:avLst/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676648"/>
            <a:ext cx="330189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10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项</a:t>
            </a:r>
            <a:endParaRPr sz="110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05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07738" y="4585208"/>
            <a:ext cx="3576218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07738" y="4585208"/>
            <a:ext cx="38100" cy="786384"/>
          </a:xfrm>
          <a:prstGeom prst="rect">
            <a:avLst/>
          </a:prstGeom>
          <a:solidFill>
            <a:srgbClr val="D98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72330" y="4676648"/>
            <a:ext cx="330189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100" b="1" i="0" dirty="0">
                <a:solidFill>
                  <a:srgbClr val="D98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项</a:t>
            </a:r>
            <a:endParaRPr sz="1100" b="1" i="0" dirty="0">
              <a:solidFill>
                <a:srgbClr val="D98B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endParaRPr sz="105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048548" y="4585208"/>
            <a:ext cx="3576218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8548" y="4585208"/>
            <a:ext cx="38100" cy="786384"/>
          </a:xfrm>
          <a:prstGeom prst="rect">
            <a:avLst/>
          </a:prstGeom>
          <a:solidFill>
            <a:srgbClr val="C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3140" y="4676648"/>
            <a:ext cx="330189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100" b="1" i="0" dirty="0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项</a:t>
            </a:r>
            <a:endParaRPr sz="1100" b="1" i="0" dirty="0">
              <a:solidFill>
                <a:srgbClr val="C4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待完成</a:t>
            </a:r>
            <a:endParaRPr sz="105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600" b="1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</a:t>
            </a: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现阶段所遇困难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7" y="1042416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7" y="1152144"/>
            <a:ext cx="5391759" cy="380390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7" y="1152144"/>
            <a:ext cx="5391759" cy="420624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152144"/>
            <a:ext cx="5099151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问题一</a:t>
            </a:r>
            <a:r>
              <a:rPr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</a:t>
            </a: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板子打印</a:t>
            </a:r>
            <a:r>
              <a:rPr lang="zh-CN" altLang="en-US"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较大</a:t>
            </a: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数字会</a:t>
            </a:r>
            <a:r>
              <a:rPr lang="zh-CN" altLang="en-US"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残缺打印</a:t>
            </a:r>
            <a:endParaRPr sz="12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7" y="1682496"/>
            <a:ext cx="5044287" cy="3182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 err="1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现象：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故障码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1001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被打成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1，5001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被打成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5，温度 -1270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只剩一个负号。只有位数多的数字出错，正常的日志看起来完全没问题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050" b="1" dirty="0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困难</a:t>
            </a:r>
            <a:r>
              <a:rPr sz="1050" b="1" i="0" dirty="0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同一份代码放到电脑上编译运行，结果完全正确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。“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电脑上是对的、板子上是错的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”，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让人一直怀疑自己的代码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050" b="1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sz="105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打印日志这条路上彻底不用系统自带的格式化功能，自己写“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数字转文字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”，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一个字符一个字符往外送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33006" y="1152144"/>
            <a:ext cx="5391759" cy="380390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6" y="1152144"/>
            <a:ext cx="5391759" cy="42062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8" y="1152144"/>
            <a:ext cx="5099151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问题二</a:t>
            </a:r>
            <a:r>
              <a:rPr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</a:t>
            </a:r>
            <a:r>
              <a:rPr lang="zh-CN" altLang="en-US" sz="125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日志时间不对齐</a:t>
            </a:r>
            <a:endParaRPr sz="125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15886" y="1682496"/>
            <a:ext cx="5044287" cy="3182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现象：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日志节奏完全正常，5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秒一条。但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525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行记录对应的“设备时间”只走了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21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秒，怎么算都对不上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05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困难</a:t>
            </a:r>
            <a:r>
              <a:rPr sz="105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不猜，拿秒表量：记下设备时间，真实等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秒，再看设备时间。实测真实过了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40.1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秒，设备时间只前进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4.1 秒——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正好差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倍。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dirty="0" err="1">
                <a:solidFill>
                  <a:srgbClr val="C4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原因：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板子的系统心跳是每秒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次，我们在代码里当成每秒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 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次来换算秒数。定时是对的，换算单位是错的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05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sz="105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改成向系统问“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你的心跳一秒多少次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”，</a:t>
            </a:r>
            <a:r>
              <a:rPr sz="105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按实际值换算。以后板子换了配置也不会错</a:t>
            </a:r>
            <a:r>
              <a:rPr sz="1050" b="0" i="0" dirty="0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现阶段</a:t>
            </a:r>
            <a:r>
              <a:rPr sz="1600" b="1" i="0" spc="60" dirty="0" err="1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实际效果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2599867" cy="1389888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37360"/>
            <a:ext cx="40640" cy="1389888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2"/>
            <a:ext cx="2325547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sz="12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%</a:t>
            </a:r>
            <a:endParaRPr sz="12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2706624"/>
            <a:ext cx="232554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日志解析率</a:t>
            </a:r>
            <a:endParaRPr sz="100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86251" y="1737360"/>
            <a:ext cx="2599867" cy="1389888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6251" y="1737360"/>
            <a:ext cx="40640" cy="1389888"/>
          </a:xfrm>
          <a:prstGeom prst="rect">
            <a:avLst/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9131" y="1856232"/>
            <a:ext cx="2325547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99.36</a:t>
            </a:r>
            <a:r>
              <a:rPr sz="120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%</a:t>
            </a:r>
            <a:endParaRPr sz="120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69131" y="2706624"/>
            <a:ext cx="232554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日志压缩率</a:t>
            </a:r>
            <a:endParaRPr sz="100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05575" y="1737360"/>
            <a:ext cx="2599867" cy="1389888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575" y="1737360"/>
            <a:ext cx="40640" cy="138988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8455" y="1856232"/>
            <a:ext cx="2325547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r>
              <a:rPr sz="1200" b="1" i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%</a:t>
            </a:r>
            <a:endParaRPr sz="1200" b="1" i="0">
              <a:solidFill>
                <a:srgbClr val="142B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8455" y="2706624"/>
            <a:ext cx="232554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分析可信度</a:t>
            </a:r>
            <a:endParaRPr sz="100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24899" y="1737360"/>
            <a:ext cx="2599867" cy="1389888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4899" y="1737360"/>
            <a:ext cx="40640" cy="1389888"/>
          </a:xfrm>
          <a:prstGeom prst="rect">
            <a:avLst/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779" y="1856232"/>
            <a:ext cx="2325547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</a:t>
            </a:r>
            <a:r>
              <a:rPr sz="120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%</a:t>
            </a:r>
            <a:endParaRPr sz="120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07779" y="2706624"/>
            <a:ext cx="232554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报告里编造内容的比例</a:t>
            </a:r>
            <a:endParaRPr sz="10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证据行全部可回查</a:t>
            </a:r>
            <a:endParaRPr sz="10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3328416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r>
              <a:rPr lang="zh-CN" altLang="en-US" sz="12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模版</a:t>
            </a:r>
            <a:endParaRPr sz="1200" b="1" i="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6928" y="3621024"/>
            <a:ext cx="6583680" cy="1097280"/>
          </a:xfrm>
          <a:prstGeom prst="rect">
            <a:avLst/>
          </a:prstGeom>
          <a:solidFill>
            <a:srgbClr val="11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621024"/>
            <a:ext cx="40640" cy="109728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703320"/>
            <a:ext cx="62727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C4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大模型给出的分析（节选）</a:t>
            </a:r>
            <a:endParaRPr sz="950" b="1" i="0">
              <a:solidFill>
                <a:srgbClr val="27C4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9808" y="3904488"/>
            <a:ext cx="6272784" cy="740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"/>
              </a:spcAft>
            </a:pPr>
            <a:r>
              <a:rPr sz="900" b="0" i="0">
                <a:solidFill>
                  <a:srgbClr val="DCE6E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在设备时间 637.4s~693.8s 这段里，环境传感模块在 642.480s 和 673.290s</a:t>
            </a:r>
            <a:endParaRPr sz="900" b="0" i="0">
              <a:solidFill>
                <a:srgbClr val="DCE6E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"/>
              </a:spcAft>
            </a:pPr>
            <a:r>
              <a:rPr sz="900" b="0" i="0">
                <a:solidFill>
                  <a:srgbClr val="DCE6E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两次报出“传感器读取超时”，同时报出读数异常、数值为 -1270；</a:t>
            </a:r>
            <a:endParaRPr sz="900" b="0" i="0">
              <a:solidFill>
                <a:srgbClr val="DCE6E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"/>
              </a:spcAft>
            </a:pPr>
            <a:r>
              <a:rPr sz="900" b="0" i="0">
                <a:solidFill>
                  <a:srgbClr val="DCE6E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设备自检模块在 657.890s 和 688.700s 两次报出“看门狗即将触发”。</a:t>
            </a:r>
            <a:endParaRPr sz="900" b="0" i="0">
              <a:solidFill>
                <a:srgbClr val="DCE6E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"/>
              </a:spcAft>
            </a:pPr>
            <a:r>
              <a:rPr sz="900" b="0" i="0">
                <a:solidFill>
                  <a:srgbClr val="DCE6E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两组事件大约每 30.8 秒重复一次，彼此相差约 15.4 秒，期间丢了 5 条日志。</a:t>
            </a:r>
            <a:endParaRPr sz="900" b="0" i="0">
              <a:solidFill>
                <a:srgbClr val="DCE6E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43216" y="3328416"/>
            <a:ext cx="4181551" cy="1517904"/>
          </a:xfrm>
          <a:prstGeom prst="rect">
            <a:avLst/>
          </a:prstGeom>
          <a:solidFill>
            <a:srgbClr val="F7F9FA"/>
          </a:solidFill>
          <a:ln w="9525">
            <a:solidFill>
              <a:srgbClr val="108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328416"/>
            <a:ext cx="3962095" cy="1517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〔 </a:t>
            </a:r>
            <a:r>
              <a:rPr sz="1100" b="1" i="0" dirty="0" err="1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sz="11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〕</a:t>
            </a:r>
            <a:endParaRPr sz="1100" b="1" i="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443216" y="5102352"/>
            <a:ext cx="4181551" cy="1188720"/>
          </a:xfrm>
          <a:prstGeom prst="rect">
            <a:avLst/>
          </a:prstGeom>
          <a:solidFill>
            <a:srgbClr val="F7F9FA"/>
          </a:solidFill>
          <a:ln w="9525">
            <a:solidFill>
              <a:srgbClr val="108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5102352"/>
            <a:ext cx="3962095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〔 </a:t>
            </a:r>
            <a:r>
              <a:rPr sz="1100" b="1" i="0" dirty="0" err="1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sz="11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〕</a:t>
            </a:r>
            <a:endParaRPr sz="1100" b="1" i="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57200"/>
            <a:ext cx="566928" cy="4064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 </a:t>
            </a:r>
            <a:r>
              <a:rPr lang="zh-CN" altLang="en-US" sz="1600" b="1" i="0" spc="6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endParaRPr sz="1600" b="1" i="0" spc="6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1057839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143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设备日志智能分析工具</a:t>
            </a:r>
            <a:endParaRPr sz="900" b="0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7487" y="65562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179576"/>
            <a:ext cx="6583680" cy="3474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179576"/>
            <a:ext cx="19530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9974" y="1179576"/>
            <a:ext cx="143750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事项</a:t>
            </a:r>
            <a:endParaRPr sz="11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83784" y="1179576"/>
            <a:ext cx="1654891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1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1527048"/>
            <a:ext cx="6583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157603"/>
            <a:ext cx="6583680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527048"/>
            <a:ext cx="19530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0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99974" y="1527048"/>
            <a:ext cx="1437506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告警推送</a:t>
            </a:r>
            <a:endParaRPr sz="100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6928" y="2167128"/>
            <a:ext cx="6583680" cy="64008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797683"/>
            <a:ext cx="6583680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67128"/>
            <a:ext cx="19530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00" b="1" i="0">
              <a:solidFill>
                <a:srgbClr val="1E9E6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9974" y="2167128"/>
            <a:ext cx="1437506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故障注入间隔</a:t>
            </a:r>
            <a:r>
              <a:rPr lang="zh-CN" altLang="en-US" sz="10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sz="100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2807208"/>
            <a:ext cx="6583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437763"/>
            <a:ext cx="6583680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2807208"/>
            <a:ext cx="19530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8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00" b="1" i="0">
              <a:solidFill>
                <a:srgbClr val="D98B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9974" y="2807208"/>
            <a:ext cx="1437506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效果量化</a:t>
            </a:r>
            <a:endParaRPr sz="100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3447288"/>
            <a:ext cx="6583680" cy="64008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077843"/>
            <a:ext cx="6583680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3447288"/>
            <a:ext cx="19530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00" b="1" i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9974" y="3447288"/>
            <a:ext cx="1437506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自动发现</a:t>
            </a:r>
            <a:r>
              <a:rPr sz="10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zh-CN" altLang="en-US" sz="10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</a:t>
            </a:r>
            <a:r>
              <a:rPr sz="10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endParaRPr sz="100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66928" y="4087368"/>
            <a:ext cx="6583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717923"/>
            <a:ext cx="6583680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087368"/>
            <a:ext cx="19530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00" b="1" i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99974" y="4087368"/>
            <a:ext cx="1437506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i="0" dirty="0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界面打磨、</a:t>
            </a:r>
            <a:r>
              <a:rPr sz="1000" b="1" i="0" dirty="0" err="1">
                <a:solidFill>
                  <a:srgbClr val="0D1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使用手册</a:t>
            </a:r>
            <a:endParaRPr sz="1000" b="1" i="0" dirty="0">
              <a:solidFill>
                <a:srgbClr val="0D1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6640" y="1179576"/>
            <a:ext cx="42181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大致时间安排</a:t>
            </a:r>
            <a:endParaRPr sz="1200" b="1" i="0" dirty="0">
              <a:solidFill>
                <a:srgbClr val="1084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06640" y="1508760"/>
            <a:ext cx="4218127" cy="12435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06640" y="1508760"/>
            <a:ext cx="40640" cy="1243584"/>
          </a:xfrm>
          <a:prstGeom prst="rect">
            <a:avLst/>
          </a:prstGeom>
          <a:solidFill>
            <a:srgbClr val="10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71232" y="1609344"/>
            <a:ext cx="3925519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周</a:t>
            </a:r>
            <a:r>
              <a:rPr sz="1000" b="0" i="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endParaRPr sz="100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告警推送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故障注入间隔改回要求值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 dirty="0">
                <a:solidFill>
                  <a:srgbClr val="1084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重采一份正式数据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06640" y="2862072"/>
            <a:ext cx="4218127" cy="12435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06640" y="2862072"/>
            <a:ext cx="40640" cy="12435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71232" y="2962656"/>
            <a:ext cx="3925519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2~3 周</a:t>
            </a:r>
            <a:r>
              <a:rPr sz="1000" b="0" i="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endParaRPr sz="100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跑评测，出数字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 dirty="0">
                <a:solidFill>
                  <a:srgbClr val="142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自动发现新格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406640" y="4215384"/>
            <a:ext cx="4218127" cy="12435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06640" y="4215384"/>
            <a:ext cx="40640" cy="1243584"/>
          </a:xfrm>
          <a:prstGeom prst="rect">
            <a:avLst/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71232" y="4315968"/>
            <a:ext cx="3925519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周</a:t>
            </a:r>
            <a:r>
              <a:rPr sz="1000" b="0" i="0" dirty="0">
                <a:solidFill>
                  <a:srgbClr val="5A67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endParaRPr sz="1000" b="0" i="0" dirty="0">
              <a:solidFill>
                <a:srgbClr val="5A67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 dirty="0">
                <a:solidFill>
                  <a:srgbClr val="1E9E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00" b="0" i="0" dirty="0" err="1">
                <a:solidFill>
                  <a:srgbClr val="1B2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整理文档</a:t>
            </a:r>
            <a:endParaRPr sz="1000" b="0" i="0" dirty="0">
              <a:solidFill>
                <a:srgbClr val="1B2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371600" cy="38100"/>
          </a:xfrm>
          <a:prstGeom prst="rect">
            <a:avLst/>
          </a:prstGeom>
          <a:solidFill>
            <a:srgbClr val="27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17904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汇报完毕</a:t>
            </a:r>
            <a:r>
              <a:rPr lang="en-US" sz="36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6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感想聆听</a:t>
            </a:r>
            <a:endParaRPr sz="36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5760720"/>
            <a:ext cx="8961120" cy="11430"/>
          </a:xfrm>
          <a:prstGeom prst="rect">
            <a:avLst/>
          </a:prstGeom>
          <a:solidFill>
            <a:srgbClr val="2C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3772</Words>
  <Application>WPS 演示</Application>
  <PresentationFormat>宽屏</PresentationFormat>
  <Paragraphs>437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dc:description>generated using python-pptx</dc:description>
  <cp:lastModifiedBy>某不科学的小排</cp:lastModifiedBy>
  <cp:revision>27</cp:revision>
  <dcterms:created xsi:type="dcterms:W3CDTF">2013-01-27T09:14:00Z</dcterms:created>
  <dcterms:modified xsi:type="dcterms:W3CDTF">2026-10-12T05:24:17Z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EF4D5A6BC1FB4A689B6BC0FF2EEFF468_13</vt:lpwstr>
  </property>
  <property fmtid="{D5CDD505-2E9C-101B-9397-08002B2CF9AE}" pid="3" name="KSOProductBuildVer">
    <vt:lpwstr>2052-12.1.0.29161</vt:lpwstr>
  </property>
</Properties>
</file>